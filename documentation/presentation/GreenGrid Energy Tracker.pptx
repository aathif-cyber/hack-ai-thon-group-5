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Bold" charset="1" panose="00000000000000000000"/>
      <p:regular r:id="rId17"/>
    </p:embeddedFont>
    <p:embeddedFont>
      <p:font typeface="Montserrat Bold" charset="1" panose="000008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223260" y="22326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1295400"/>
            <a:ext cx="685800" cy="47625"/>
            <a:chOff x="0" y="0"/>
            <a:chExt cx="914400" cy="6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63500"/>
            </a:xfrm>
            <a:custGeom>
              <a:avLst/>
              <a:gdLst/>
              <a:ahLst/>
              <a:cxnLst/>
              <a:rect r="r" b="b" t="t" l="l"/>
              <a:pathLst>
                <a:path h="635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55E68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14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14954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HACK-AI-THON 2026  /  GROUP 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505075"/>
            <a:ext cx="10953750" cy="234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GreenGrid </a:t>
            </a:r>
          </a:p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Energy &amp;</a:t>
            </a:r>
          </a:p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Carbon Tracker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0050"/>
            <a:ext cx="1714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 /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file. Four useful answers.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2162175"/>
            <a:ext cx="6858000" cy="139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A single-file Python Tkinter application that turns appliance usage into energy, cost, carbon and efficiency insights — helping households act, not guess.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714875"/>
            <a:ext cx="7239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55E6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  →  UNDERSTAND  →  REDUCE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5953125"/>
            <a:ext cx="6858000" cy="876300"/>
            <a:chOff x="0" y="0"/>
            <a:chExt cx="9144000" cy="11684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144000" cy="1168400"/>
              <a:chOff x="0" y="0"/>
              <a:chExt cx="9144000" cy="1168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144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112B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144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57200" y="279400"/>
              <a:ext cx="8255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greengrid.py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334500" y="2095500"/>
            <a:ext cx="7905750" cy="6477000"/>
          </a:xfrm>
          <a:custGeom>
            <a:avLst/>
            <a:gdLst/>
            <a:ahLst/>
            <a:cxnLst/>
            <a:rect r="r" b="b" t="t" l="l"/>
            <a:pathLst>
              <a:path h="6477000" w="7905750">
                <a:moveTo>
                  <a:pt x="0" y="0"/>
                </a:moveTo>
                <a:lnTo>
                  <a:pt x="7905750" y="0"/>
                </a:lnTo>
                <a:lnTo>
                  <a:pt x="790575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24" t="0" r="-22824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9575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 / CAPABILITIES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Everything needed to close the loop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2238375"/>
            <a:ext cx="4953000" cy="2476500"/>
            <a:chOff x="0" y="0"/>
            <a:chExt cx="6604000" cy="3302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B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33400" y="479425"/>
              <a:ext cx="596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TRACK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33400" y="1177925"/>
              <a:ext cx="596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Per-appliance usage, category and hours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43650" y="2238375"/>
            <a:ext cx="4953000" cy="2476500"/>
            <a:chOff x="0" y="0"/>
            <a:chExt cx="6604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33400" y="479425"/>
              <a:ext cx="596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CALCULATE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33400" y="1177925"/>
              <a:ext cx="596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₹7.50/kWh tariff + 0.82 kg CO₂/kWh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72900" y="2238375"/>
            <a:ext cx="4953000" cy="2476500"/>
            <a:chOff x="0" y="0"/>
            <a:chExt cx="6604000" cy="3302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33400" y="479425"/>
              <a:ext cx="596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RANK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33400" y="1177925"/>
              <a:ext cx="596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Efficiency score and top consumers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5286375"/>
            <a:ext cx="4953000" cy="2476500"/>
            <a:chOff x="0" y="0"/>
            <a:chExt cx="6604000" cy="3302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33400" y="479425"/>
              <a:ext cx="596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ADVISE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33400" y="1177925"/>
              <a:ext cx="596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Explainable appliance-specific actions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43650" y="5286375"/>
            <a:ext cx="4953000" cy="2476500"/>
            <a:chOff x="0" y="0"/>
            <a:chExt cx="6604000" cy="3302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33400" y="479425"/>
              <a:ext cx="596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PERSIST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33400" y="1177925"/>
              <a:ext cx="596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Local JSON continuity + CSV export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772900" y="5286375"/>
            <a:ext cx="4953000" cy="2476500"/>
            <a:chOff x="0" y="0"/>
            <a:chExt cx="6604000" cy="3302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60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33400" y="479425"/>
              <a:ext cx="5969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NAVIGATE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33400" y="1177925"/>
              <a:ext cx="596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Dashboard, Appliances, Reports, Settings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9575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 / SAMPLE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Watts become decisions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876425"/>
            <a:ext cx="857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55E6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(W) × HOURS ÷ 1000 = kWh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762250"/>
            <a:ext cx="7429500" cy="5143500"/>
            <a:chOff x="0" y="0"/>
            <a:chExt cx="9906000" cy="6858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906000" cy="6858000"/>
              <a:chOff x="0" y="0"/>
              <a:chExt cx="9906000" cy="6858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906000" cy="6858000"/>
              </a:xfrm>
              <a:custGeom>
                <a:avLst/>
                <a:gdLst/>
                <a:ahLst/>
                <a:cxnLst/>
                <a:rect r="r" b="b" t="t" l="l"/>
                <a:pathLst>
                  <a:path h="6858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9906000" cy="689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1800" y="304800"/>
              <a:ext cx="9144000" cy="2896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7"/>
                </a:lnSpc>
              </a:pPr>
              <a:r>
                <a:rPr lang="en-US" sz="172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AIR CONDITIONER     1500W × 4h       6.00 kWh</a:t>
              </a:r>
            </a:p>
            <a:p>
              <a:pPr algn="l">
                <a:lnSpc>
                  <a:spcPts val="2967"/>
                </a:lnSpc>
              </a:pPr>
              <a:r>
                <a:rPr lang="en-US" sz="172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REFRIGERATOR          180W × 10h      1.80 kWh</a:t>
              </a:r>
            </a:p>
            <a:p>
              <a:pPr algn="l">
                <a:lnSpc>
                  <a:spcPts val="2967"/>
                </a:lnSpc>
              </a:pPr>
              <a:r>
                <a:rPr lang="en-US" sz="172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CEILING FAN               75W × 8h        0.60 kWh</a:t>
              </a:r>
            </a:p>
            <a:p>
              <a:pPr algn="l">
                <a:lnSpc>
                  <a:spcPts val="2967"/>
                </a:lnSpc>
              </a:pPr>
              <a:r>
                <a:rPr lang="en-US" sz="172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LED LIGHTS                  60W × 5h        0.30 kWh</a:t>
              </a:r>
            </a:p>
            <a:p>
              <a:pPr algn="l">
                <a:lnSpc>
                  <a:spcPts val="2967"/>
                </a:lnSpc>
              </a:pPr>
              <a:r>
                <a:rPr lang="en-US" sz="172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TELEVISION                 120W × 4h        0.48 kWh</a:t>
              </a:r>
            </a:p>
            <a:p>
              <a:pPr algn="l">
                <a:lnSpc>
                  <a:spcPts val="2967"/>
                </a:lnSpc>
              </a:pPr>
              <a:r>
                <a:rPr lang="en-US" sz="172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WASHING MACHINE     500W × 1h        0.50 kWh</a:t>
              </a: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97216" y="2046527"/>
            <a:ext cx="10123069" cy="7336947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14400" y="8829675"/>
            <a:ext cx="762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A daily view makes invisible consumption visible.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9575"/>
            <a:ext cx="1714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17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 /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 model. Strong validation.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3333750"/>
            <a:ext cx="4762500" cy="1809750"/>
            <a:chOff x="0" y="0"/>
            <a:chExt cx="6350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2382520"/>
                  </a:lnTo>
                  <a:cubicBezTo>
                    <a:pt x="6350000" y="2399354"/>
                    <a:pt x="6336354" y="2413000"/>
                    <a:pt x="6319520" y="2413000"/>
                  </a:cubicBezTo>
                  <a:lnTo>
                    <a:pt x="30480" y="2413000"/>
                  </a:lnTo>
                  <a:cubicBezTo>
                    <a:pt x="22396" y="2413000"/>
                    <a:pt x="14643" y="2409789"/>
                    <a:pt x="8927" y="2404073"/>
                  </a:cubicBezTo>
                  <a:cubicBezTo>
                    <a:pt x="3211" y="2398357"/>
                    <a:pt x="0" y="2390604"/>
                    <a:pt x="0" y="2382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112B43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50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APPLIANCE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identity + watts + category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0" y="3333750"/>
            <a:ext cx="4762500" cy="1809750"/>
            <a:chOff x="0" y="0"/>
            <a:chExt cx="6350000" cy="241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2382520"/>
                  </a:lnTo>
                  <a:cubicBezTo>
                    <a:pt x="6350000" y="2399354"/>
                    <a:pt x="6336354" y="2413000"/>
                    <a:pt x="6319520" y="2413000"/>
                  </a:cubicBezTo>
                  <a:lnTo>
                    <a:pt x="30480" y="2413000"/>
                  </a:lnTo>
                  <a:cubicBezTo>
                    <a:pt x="22396" y="2413000"/>
                    <a:pt x="14643" y="2409789"/>
                    <a:pt x="8927" y="2404073"/>
                  </a:cubicBezTo>
                  <a:cubicBezTo>
                    <a:pt x="3211" y="2398357"/>
                    <a:pt x="0" y="2390604"/>
                    <a:pt x="0" y="2382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1744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350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ENERGY RECORD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hours + period + date + kWh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92000" y="3333750"/>
            <a:ext cx="4762500" cy="1809750"/>
            <a:chOff x="0" y="0"/>
            <a:chExt cx="63500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2382520"/>
                  </a:lnTo>
                  <a:cubicBezTo>
                    <a:pt x="6350000" y="2399354"/>
                    <a:pt x="6336354" y="2413000"/>
                    <a:pt x="6319520" y="2413000"/>
                  </a:cubicBezTo>
                  <a:lnTo>
                    <a:pt x="30480" y="2413000"/>
                  </a:lnTo>
                  <a:cubicBezTo>
                    <a:pt x="22396" y="2413000"/>
                    <a:pt x="14643" y="2409789"/>
                    <a:pt x="8927" y="2404073"/>
                  </a:cubicBezTo>
                  <a:cubicBezTo>
                    <a:pt x="3211" y="2398357"/>
                    <a:pt x="0" y="2390604"/>
                    <a:pt x="0" y="2382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112B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50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ENERGY REPORT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aggregate + cost + CO₂ + score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05500" y="4238625"/>
            <a:ext cx="571500" cy="0"/>
          </a:xfrm>
          <a:prstGeom prst="line">
            <a:avLst/>
          </a:prstGeom>
          <a:ln cap="flat" w="47625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4238625"/>
            <a:ext cx="571500" cy="0"/>
          </a:xfrm>
          <a:prstGeom prst="line">
            <a:avLst/>
          </a:prstGeom>
          <a:ln cap="flat" w="47625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43000" y="61626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6638925"/>
            <a:ext cx="4762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Positive power • valid hours • clean dates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0" y="61626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COMPUTE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0" y="6638925"/>
            <a:ext cx="4762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energy_kwh is derived — never duplicated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2000" y="61626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0" y="6638925"/>
            <a:ext cx="4762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Separation keeps the code testable and maintainable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9575"/>
            <a:ext cx="1714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 / SMART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Personalized advice, explained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2190750"/>
            <a:ext cx="15240000" cy="1028700"/>
            <a:chOff x="0" y="0"/>
            <a:chExt cx="20320000" cy="13716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320000" cy="1371600"/>
              <a:chOff x="0" y="0"/>
              <a:chExt cx="20320000" cy="1371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320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0320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1000" y="2889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AIR CONDITIONER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0000" y="250825"/>
              <a:ext cx="13716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Set 24–26°C; clean filters regularly.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543300"/>
            <a:ext cx="15240000" cy="1028700"/>
            <a:chOff x="0" y="0"/>
            <a:chExt cx="20320000" cy="13716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0320000" cy="1371600"/>
              <a:chOff x="0" y="0"/>
              <a:chExt cx="20320000" cy="13716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320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320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81000" y="2889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REFRIGERATOR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0" y="250825"/>
              <a:ext cx="13716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Minimize door-open time; check seals.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4895850"/>
            <a:ext cx="15240000" cy="1028700"/>
            <a:chOff x="0" y="0"/>
            <a:chExt cx="20320000" cy="13716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0320000" cy="1371600"/>
              <a:chOff x="0" y="0"/>
              <a:chExt cx="20320000" cy="13716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320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0320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2889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LIGHTING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0" y="250825"/>
              <a:ext cx="13716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Switch to LEDs; use daylight first.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3000" y="6248400"/>
            <a:ext cx="15240000" cy="1028700"/>
            <a:chOff x="0" y="0"/>
            <a:chExt cx="20320000" cy="13716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0320000" cy="1371600"/>
              <a:chOff x="0" y="0"/>
              <a:chExt cx="20320000" cy="1371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320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0320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81000" y="2889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WASHING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0000" y="250825"/>
              <a:ext cx="13716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Run full loads on eco cycles.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3000" y="7600950"/>
            <a:ext cx="15240000" cy="1028700"/>
            <a:chOff x="0" y="0"/>
            <a:chExt cx="20320000" cy="13716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0320000" cy="1371600"/>
              <a:chOff x="0" y="0"/>
              <a:chExt cx="20320000" cy="13716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0320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63D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0320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81000" y="288925"/>
              <a:ext cx="4318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HEAVY USE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080000" y="250825"/>
              <a:ext cx="13716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4FBF7"/>
                  </a:solidFill>
                  <a:latin typeface="Open Sans"/>
                  <a:ea typeface="Open Sans"/>
                  <a:cs typeface="Open Sans"/>
                  <a:sym typeface="Open Sans"/>
                </a:rPr>
                <a:t>Flag &gt;8 hours or &gt;5 kWh for action.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43000" y="8924925"/>
            <a:ext cx="1143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RULE-BASED • TRANSPARENT • NO GENERATIVE AI AT RUNTIME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0050"/>
            <a:ext cx="1714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 /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dashboard built for 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57750" y="2095500"/>
            <a:ext cx="12382500" cy="6667500"/>
          </a:xfrm>
          <a:custGeom>
            <a:avLst/>
            <a:gdLst/>
            <a:ahLst/>
            <a:cxnLst/>
            <a:rect r="r" b="b" t="t" l="l"/>
            <a:pathLst>
              <a:path h="6667500" w="12382500">
                <a:moveTo>
                  <a:pt x="0" y="0"/>
                </a:moveTo>
                <a:lnTo>
                  <a:pt x="12382500" y="0"/>
                </a:lnTo>
                <a:lnTo>
                  <a:pt x="123825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32" r="0" b="-2232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47750" y="2095500"/>
            <a:ext cx="3333750" cy="6667500"/>
            <a:chOff x="0" y="0"/>
            <a:chExt cx="44450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112B4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45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71625" y="2695575"/>
            <a:ext cx="2286000" cy="259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</a:t>
            </a:r>
          </a:p>
          <a:p>
            <a:pPr algn="l">
              <a:lnSpc>
                <a:spcPts val="2925"/>
              </a:lnSpc>
            </a:pP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APPLIANCES</a:t>
            </a:r>
          </a:p>
          <a:p>
            <a:pPr algn="l">
              <a:lnSpc>
                <a:spcPts val="2925"/>
              </a:lnSpc>
            </a:pP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REPORTS</a:t>
            </a:r>
          </a:p>
          <a:p>
            <a:pPr algn="l">
              <a:lnSpc>
                <a:spcPts val="2925"/>
              </a:lnSpc>
            </a:pP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SETTINGS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7750" y="8972550"/>
            <a:ext cx="1143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  •  REPORT  •  EXPORT CSV  •  SAMPLE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1625" y="8001000"/>
            <a:ext cx="2381250" cy="2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55E68B"/>
                </a:solidFill>
                <a:latin typeface="Open Sans"/>
                <a:ea typeface="Open Sans"/>
                <a:cs typeface="Open Sans"/>
                <a:sym typeface="Open Sans"/>
              </a:rPr>
              <a:t>SDG 7  •  SDG 11  •  SDG 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0050"/>
            <a:ext cx="1714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 /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Local-first, portable by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3619500"/>
            <a:ext cx="4095750" cy="1714500"/>
            <a:chOff x="0" y="0"/>
            <a:chExt cx="5461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6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61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2250558"/>
                  </a:lnTo>
                  <a:cubicBezTo>
                    <a:pt x="5461000" y="2259958"/>
                    <a:pt x="5457266" y="2268973"/>
                    <a:pt x="5450619" y="2275619"/>
                  </a:cubicBezTo>
                  <a:cubicBezTo>
                    <a:pt x="5443973" y="2282266"/>
                    <a:pt x="5434958" y="2286000"/>
                    <a:pt x="5425558" y="2286000"/>
                  </a:cubicBezTo>
                  <a:lnTo>
                    <a:pt x="35442" y="2286000"/>
                  </a:lnTo>
                  <a:cubicBezTo>
                    <a:pt x="26042" y="2286000"/>
                    <a:pt x="17027" y="2282266"/>
                    <a:pt x="10381" y="2275619"/>
                  </a:cubicBezTo>
                  <a:cubicBezTo>
                    <a:pt x="3734" y="2268973"/>
                    <a:pt x="0" y="2259958"/>
                    <a:pt x="0" y="2250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112B43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61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greengrid_data.json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LOAD + SAVE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96125" y="3143250"/>
            <a:ext cx="4095750" cy="2667000"/>
            <a:chOff x="0" y="0"/>
            <a:chExt cx="5461000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1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5461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3520558"/>
                  </a:lnTo>
                  <a:cubicBezTo>
                    <a:pt x="5461000" y="3529958"/>
                    <a:pt x="5457266" y="3538973"/>
                    <a:pt x="5450619" y="3545619"/>
                  </a:cubicBezTo>
                  <a:cubicBezTo>
                    <a:pt x="5443973" y="3552266"/>
                    <a:pt x="5434958" y="3556000"/>
                    <a:pt x="5425558" y="3556000"/>
                  </a:cubicBezTo>
                  <a:lnTo>
                    <a:pt x="35442" y="3556000"/>
                  </a:lnTo>
                  <a:cubicBezTo>
                    <a:pt x="26042" y="3556000"/>
                    <a:pt x="17027" y="3552266"/>
                    <a:pt x="10381" y="3545619"/>
                  </a:cubicBezTo>
                  <a:cubicBezTo>
                    <a:pt x="3734" y="3538973"/>
                    <a:pt x="0" y="3529958"/>
                    <a:pt x="0" y="3520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1744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61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GREENGRID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VALIDATE + CALCULATE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49250" y="3619500"/>
            <a:ext cx="4095750" cy="1714500"/>
            <a:chOff x="0" y="0"/>
            <a:chExt cx="54610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61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2250558"/>
                  </a:lnTo>
                  <a:cubicBezTo>
                    <a:pt x="5461000" y="2259958"/>
                    <a:pt x="5457266" y="2268973"/>
                    <a:pt x="5450619" y="2275619"/>
                  </a:cubicBezTo>
                  <a:cubicBezTo>
                    <a:pt x="5443973" y="2282266"/>
                    <a:pt x="5434958" y="2286000"/>
                    <a:pt x="5425558" y="2286000"/>
                  </a:cubicBezTo>
                  <a:lnTo>
                    <a:pt x="35442" y="2286000"/>
                  </a:lnTo>
                  <a:cubicBezTo>
                    <a:pt x="26042" y="2286000"/>
                    <a:pt x="17027" y="2282266"/>
                    <a:pt x="10381" y="2275619"/>
                  </a:cubicBezTo>
                  <a:cubicBezTo>
                    <a:pt x="3734" y="2268973"/>
                    <a:pt x="0" y="2259958"/>
                    <a:pt x="0" y="2250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112B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61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REPORT.csv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DETAIL + SUMMARY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238750" y="4476750"/>
            <a:ext cx="1666875" cy="0"/>
          </a:xfrm>
          <a:prstGeom prst="line">
            <a:avLst/>
          </a:prstGeom>
          <a:ln cap="flat" w="571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191875" y="4476750"/>
            <a:ext cx="1666875" cy="0"/>
          </a:xfrm>
          <a:prstGeom prst="line">
            <a:avLst/>
          </a:prstGeom>
          <a:ln cap="flat" w="571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43000" y="6162675"/>
            <a:ext cx="409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Error-handled loading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96125" y="6162675"/>
            <a:ext cx="409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Sample data option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49250" y="6162675"/>
            <a:ext cx="409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Easy sharing &amp; reporting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57500" y="7762875"/>
            <a:ext cx="125730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Continuity without accounts, servers or lock-in.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19100"/>
            <a:ext cx="1714500" cy="16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26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 / TRANSPARENCY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AI-assisted development. Not AI-dependent.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2286000"/>
            <a:ext cx="7620000" cy="6191250"/>
            <a:chOff x="0" y="0"/>
            <a:chExt cx="101600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112B43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20250" y="2286000"/>
            <a:ext cx="7620000" cy="6191250"/>
            <a:chOff x="0" y="0"/>
            <a:chExt cx="10160000" cy="825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0D203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71625" y="2733675"/>
            <a:ext cx="647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SUPPORT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1625" y="3419475"/>
            <a:ext cx="6191250" cy="277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Ideation &amp; concept framing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Code review &amp; debugging suggestions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UX and content refinement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Presentation &amp; documentation support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4125" y="2733675"/>
            <a:ext cx="647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RUNTIME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4125" y="3419475"/>
            <a:ext cx="6191250" cy="277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Python standard library only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Tkinter interface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JSON + CSV persistence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4FBF7"/>
                </a:solidFill>
                <a:latin typeface="Open Sans"/>
                <a:ea typeface="Open Sans"/>
                <a:cs typeface="Open Sans"/>
                <a:sym typeface="Open Sans"/>
              </a:rPr>
              <a:t>Rule-based recommendations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4125" y="6829425"/>
            <a:ext cx="619125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55E6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EMBEDDED MODEL</a:t>
            </a: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55E6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EXTERNAL AI API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323850"/>
            <a:ext cx="16459200" cy="0"/>
          </a:xfrm>
          <a:prstGeom prst="line">
            <a:avLst/>
          </a:prstGeom>
          <a:ln cap="flat" w="19050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400050"/>
            <a:ext cx="1714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 /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6200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daily footprint, made actionable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97726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 •  HACK-AI-THON 2026  •  GROUP 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2000250"/>
            <a:ext cx="3714750" cy="1428750"/>
            <a:chOff x="0" y="0"/>
            <a:chExt cx="4953000" cy="1905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95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7500" y="250825"/>
              <a:ext cx="4445000" cy="82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9.68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17500" y="11779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kWh ENERGY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62525" y="2000250"/>
            <a:ext cx="3714750" cy="1428750"/>
            <a:chOff x="0" y="0"/>
            <a:chExt cx="4953000" cy="1905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5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17500" y="250825"/>
              <a:ext cx="4445000" cy="82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₹72.60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17500" y="11779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EST. COST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0650" y="2000250"/>
            <a:ext cx="3714750" cy="1428750"/>
            <a:chOff x="0" y="0"/>
            <a:chExt cx="4953000" cy="1905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5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17500" y="250825"/>
              <a:ext cx="4445000" cy="82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7.94 kg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17500" y="11779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CO₂ EMISSIONS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58775" y="2000250"/>
            <a:ext cx="3714750" cy="1428750"/>
            <a:chOff x="0" y="0"/>
            <a:chExt cx="4953000" cy="1905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95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63D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17500" y="250825"/>
              <a:ext cx="4445000" cy="82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 b="true">
                  <a:solidFill>
                    <a:srgbClr val="F4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78/100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17500" y="11779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55E6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GREEN SCORE</a:t>
              </a:r>
            </a:p>
          </p:txBody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5084" y="3119646"/>
            <a:ext cx="11976132" cy="6524207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2382500" y="4686300"/>
            <a:ext cx="4286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BEST ACTION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82500" y="5286375"/>
            <a:ext cx="4191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Raise AC setpoint to 24–26°C.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82500" y="7067550"/>
            <a:ext cx="409575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9BB1BD"/>
                </a:solidFill>
                <a:latin typeface="Open Sans"/>
                <a:ea typeface="Open Sans"/>
                <a:cs typeface="Open Sans"/>
                <a:sym typeface="Open Sans"/>
              </a:rPr>
              <a:t>GreenGrid turns measurement into a practical sustainable choice.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0191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55E6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GROUP 5  /  HACK-AI-THON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981200"/>
            <a:ext cx="10001250" cy="157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Built together.</a:t>
            </a:r>
          </a:p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Designed for impact.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5429250"/>
            <a:ext cx="13335000" cy="111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5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MOHAMED AATHIF     PARAS SHAH</a:t>
            </a:r>
          </a:p>
          <a:p>
            <a:pPr algn="l">
              <a:lnSpc>
                <a:spcPts val="4590"/>
              </a:lnSpc>
            </a:pPr>
            <a:r>
              <a:rPr lang="en-US" sz="2550" b="true">
                <a:solidFill>
                  <a:srgbClr val="F4FB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VETRI SELVAN             SANKET HORE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8534400"/>
            <a:ext cx="8572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5E6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</a:t>
            </a:r>
          </a:p>
        </p:txBody>
      </p:sp>
      <p:sp>
        <p:nvSpPr>
          <p:cNvPr name="AutoShape 6" id="6"/>
          <p:cNvSpPr/>
          <p:nvPr/>
        </p:nvSpPr>
        <p:spPr>
          <a:xfrm>
            <a:off x="914400" y="9525000"/>
            <a:ext cx="16459200" cy="0"/>
          </a:xfrm>
          <a:prstGeom prst="line">
            <a:avLst/>
          </a:prstGeom>
          <a:ln cap="flat" w="28575">
            <a:solidFill>
              <a:srgbClr val="55E68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DAHVKHzawFo</dc:identifier>
  <dcterms:modified xsi:type="dcterms:W3CDTF">2011-08-01T06:04:30Z</dcterms:modified>
  <cp:revision>1</cp:revision>
  <dc:title>GreenGrid Energy Tracker</dc:title>
</cp:coreProperties>
</file>